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B8CFF"/>
                </a:solidFill>
                <a:latin typeface="Consolas"/>
              </a:rPr>
              <a:t>MULTI-APP AI AGENT HACKATHON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280160"/>
            <a:ext cx="10424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600" b="1">
                <a:solidFill>
                  <a:srgbClr val="FFFFFF"/>
                </a:solidFill>
                <a:latin typeface="Segoe UI Semibold"/>
              </a:rPr>
              <a:t>Sprint Copilot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063240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D8E0EC"/>
                </a:solidFill>
                <a:latin typeface="Segoe UI Semibold"/>
              </a:rPr>
              <a:t>The scrum master, </a:t>
            </a:r>
            <a:r>
              <a:rPr sz="3000" b="1">
                <a:solidFill>
                  <a:srgbClr val="5B8CFF"/>
                </a:solidFill>
                <a:latin typeface="Segoe UI Semibold"/>
              </a:rPr>
              <a:t>automated.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794760"/>
            <a:ext cx="9875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695A8"/>
                </a:solidFill>
                <a:latin typeface="Segoe UI"/>
              </a:rPr>
              <a:t>An agent that watches your team's GitHub &amp; Jira, moves tickets when work merges, flags what's stuck, and writes the daily standup into Slack — so nobody does the busywork.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5029200"/>
            <a:ext cx="1088136" cy="384048"/>
          </a:xfrm>
          <a:prstGeom prst="roundRect">
            <a:avLst>
              <a:gd name="adj" fmla="val 4000"/>
            </a:avLst>
          </a:prstGeom>
          <a:solidFill>
            <a:srgbClr val="151D2A"/>
          </a:solidFill>
          <a:ln w="12700">
            <a:solidFill>
              <a:srgbClr val="2631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27432" bIns="27432"/>
          <a:lstStyle/>
          <a:p>
            <a:pPr algn="l"/>
            <a:r>
              <a:rPr sz="1200" b="0">
                <a:solidFill>
                  <a:srgbClr val="D8E0EC"/>
                </a:solidFill>
                <a:latin typeface="Consolas"/>
              </a:rPr>
              <a:t>GitHub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03120" y="5029200"/>
            <a:ext cx="877824" cy="384048"/>
          </a:xfrm>
          <a:prstGeom prst="roundRect">
            <a:avLst>
              <a:gd name="adj" fmla="val 4000"/>
            </a:avLst>
          </a:prstGeom>
          <a:solidFill>
            <a:srgbClr val="151D2A"/>
          </a:solidFill>
          <a:ln w="12700">
            <a:solidFill>
              <a:srgbClr val="2631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27432" bIns="27432"/>
          <a:lstStyle/>
          <a:p>
            <a:pPr algn="l"/>
            <a:r>
              <a:rPr sz="1200" b="0">
                <a:solidFill>
                  <a:srgbClr val="D8E0EC"/>
                </a:solidFill>
                <a:latin typeface="Consolas"/>
              </a:rPr>
              <a:t>Jira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27248" y="5029200"/>
            <a:ext cx="982980" cy="384048"/>
          </a:xfrm>
          <a:prstGeom prst="roundRect">
            <a:avLst>
              <a:gd name="adj" fmla="val 4000"/>
            </a:avLst>
          </a:prstGeom>
          <a:solidFill>
            <a:srgbClr val="151D2A"/>
          </a:solidFill>
          <a:ln w="12700">
            <a:solidFill>
              <a:srgbClr val="2631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27432" bIns="27432"/>
          <a:lstStyle/>
          <a:p>
            <a:pPr algn="l"/>
            <a:r>
              <a:rPr sz="1200" b="0">
                <a:solidFill>
                  <a:srgbClr val="D8E0EC"/>
                </a:solidFill>
                <a:latin typeface="Consolas"/>
              </a:rPr>
              <a:t>Slack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6532" y="5029200"/>
            <a:ext cx="1719072" cy="384048"/>
          </a:xfrm>
          <a:prstGeom prst="roundRect">
            <a:avLst>
              <a:gd name="adj" fmla="val 4000"/>
            </a:avLst>
          </a:prstGeom>
          <a:solidFill>
            <a:srgbClr val="151D2A"/>
          </a:solidFill>
          <a:ln w="12700">
            <a:solidFill>
              <a:srgbClr val="2631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27432" bIns="27432"/>
          <a:lstStyle/>
          <a:p>
            <a:pPr algn="l"/>
            <a:r>
              <a:rPr sz="1200" b="0">
                <a:solidFill>
                  <a:srgbClr val="D8E0EC"/>
                </a:solidFill>
                <a:latin typeface="Consolas"/>
              </a:rPr>
              <a:t>Azure OpenAI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580644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8E0EC"/>
                </a:solidFill>
                <a:latin typeface="Segoe UI"/>
              </a:rPr>
              <a:t>Rohith Penninti</a:t>
            </a:r>
            <a:r>
              <a:rPr sz="1400" b="1">
                <a:solidFill>
                  <a:srgbClr val="D8E0EC"/>
                </a:solidFill>
                <a:latin typeface="Segoe UI"/>
              </a:rPr>
              <a:t>      Shravani Joshi</a:t>
            </a:r>
            <a:r>
              <a:rPr sz="1300" b="0">
                <a:solidFill>
                  <a:srgbClr val="5F6D80"/>
                </a:solidFill>
                <a:latin typeface="Consolas"/>
              </a:rPr>
              <a:t>      penninti/sprint-copilot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B8CFF"/>
                </a:solidFill>
                <a:latin typeface="Consolas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960120"/>
            <a:ext cx="104241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Segoe UI Semibold"/>
              </a:rPr>
              <a:t>Every team pays someone to do the busywork.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2286000"/>
            <a:ext cx="5486400" cy="3566160"/>
          </a:xfrm>
          <a:prstGeom prst="roundRect">
            <a:avLst>
              <a:gd name="adj" fmla="val 4000"/>
            </a:avLst>
          </a:prstGeom>
          <a:solidFill>
            <a:srgbClr val="151D2A"/>
          </a:solidFill>
          <a:ln w="12700">
            <a:solidFill>
              <a:srgbClr val="2631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56032"/>
          <a:lstStyle/>
          <a:p>
            <a:pPr algn="l"/>
            <a:r>
              <a:rPr sz="1700" b="1">
                <a:solidFill>
                  <a:srgbClr val="D8E0EC"/>
                </a:solidFill>
                <a:latin typeface="Segoe UI"/>
              </a:rPr>
              <a:t>The daily scrum-master grind</a:t>
            </a:r>
          </a:p>
          <a:p>
            <a:pPr algn="l">
              <a:spcBef>
                <a:spcPts val="1000"/>
              </a:spcBef>
            </a:pPr>
            <a:r>
              <a:rPr sz="1450" b="0">
                <a:solidFill>
                  <a:srgbClr val="8695A8"/>
                </a:solidFill>
                <a:latin typeface="Segoe UI"/>
              </a:rPr>
              <a:t>•  Chase everyone: “what did you do yesterday?”</a:t>
            </a:r>
          </a:p>
          <a:p>
            <a:pPr algn="l">
              <a:spcBef>
                <a:spcPts val="1000"/>
              </a:spcBef>
            </a:pPr>
            <a:r>
              <a:rPr sz="1450" b="0">
                <a:solidFill>
                  <a:srgbClr val="8695A8"/>
                </a:solidFill>
                <a:latin typeface="Segoe UI"/>
              </a:rPr>
              <a:t>•  Move tickets when the code actually merges</a:t>
            </a:r>
          </a:p>
          <a:p>
            <a:pPr algn="l">
              <a:spcBef>
                <a:spcPts val="1000"/>
              </a:spcBef>
            </a:pPr>
            <a:r>
              <a:rPr sz="1450" b="0">
                <a:solidFill>
                  <a:srgbClr val="8695A8"/>
                </a:solidFill>
                <a:latin typeface="Segoe UI"/>
              </a:rPr>
              <a:t>•  Write each person's standup, by hand</a:t>
            </a:r>
          </a:p>
          <a:p>
            <a:pPr algn="l">
              <a:spcBef>
                <a:spcPts val="1000"/>
              </a:spcBef>
            </a:pPr>
            <a:r>
              <a:rPr sz="1450" b="0">
                <a:solidFill>
                  <a:srgbClr val="8695A8"/>
                </a:solidFill>
                <a:latin typeface="Segoe UI"/>
              </a:rPr>
              <a:t>•  Notice what's stuck before it's too late</a:t>
            </a:r>
          </a:p>
          <a:p>
            <a:pPr algn="l">
              <a:spcBef>
                <a:spcPts val="1000"/>
              </a:spcBef>
            </a:pPr>
            <a:r>
              <a:rPr sz="1450" b="0">
                <a:solidFill>
                  <a:srgbClr val="8695A8"/>
                </a:solidFill>
                <a:latin typeface="Segoe UI"/>
              </a:rPr>
              <a:t>•  Run the meeting even when there's nothing to say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0" y="2286000"/>
            <a:ext cx="4663440" cy="3566160"/>
          </a:xfrm>
          <a:prstGeom prst="roundRect">
            <a:avLst>
              <a:gd name="adj" fmla="val 4000"/>
            </a:avLst>
          </a:prstGeom>
          <a:solidFill>
            <a:srgbClr val="151D2A"/>
          </a:solidFill>
          <a:ln w="12700">
            <a:solidFill>
              <a:srgbClr val="2631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457200"/>
          <a:lstStyle/>
          <a:p>
            <a:pPr algn="l"/>
            <a:r>
              <a:rPr sz="4800" b="1">
                <a:solidFill>
                  <a:srgbClr val="F5A524"/>
                </a:solidFill>
                <a:latin typeface="Segoe UI Semibold"/>
              </a:rPr>
              <a:t>~30 min</a:t>
            </a:r>
          </a:p>
          <a:p>
            <a:pPr algn="l">
              <a:spcBef>
                <a:spcPts val="1000"/>
              </a:spcBef>
            </a:pPr>
            <a:r>
              <a:rPr sz="1600" b="0">
                <a:solidFill>
                  <a:srgbClr val="8695A8"/>
                </a:solidFill>
                <a:latin typeface="Segoe UI"/>
              </a:rPr>
              <a:t>per engineer, every day — on coordination no one wants to do, and everyone forgets to.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B8CFF"/>
                </a:solidFill>
                <a:latin typeface="Consolas"/>
              </a:rPr>
              <a:t>THE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960120"/>
            <a:ext cx="104241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Segoe UI Semibold"/>
              </a:rPr>
              <a:t>It watches the work and does the coordination itself.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2743200"/>
            <a:ext cx="1874519" cy="1051560"/>
          </a:xfrm>
          <a:prstGeom prst="roundRect">
            <a:avLst>
              <a:gd name="adj" fmla="val 4000"/>
            </a:avLst>
          </a:prstGeom>
          <a:solidFill>
            <a:srgbClr val="151D2A"/>
          </a:solidFill>
          <a:ln w="12700">
            <a:solidFill>
              <a:srgbClr val="2631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 lIns="137160"/>
          <a:lstStyle/>
          <a:p>
            <a:pPr algn="l"/>
            <a:r>
              <a:rPr sz="1600" b="1">
                <a:solidFill>
                  <a:srgbClr val="D8E0EC"/>
                </a:solidFill>
                <a:latin typeface="Segoe UI"/>
              </a:rPr>
              <a:t>Read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8695A8"/>
                </a:solidFill>
                <a:latin typeface="Consolas"/>
              </a:rPr>
              <a:t>GitHub + Jira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24912" y="306324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5B8CFF"/>
                </a:solidFill>
                <a:latin typeface="Segoe UI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44952" y="2743200"/>
            <a:ext cx="1874519" cy="1051560"/>
          </a:xfrm>
          <a:prstGeom prst="roundRect">
            <a:avLst>
              <a:gd name="adj" fmla="val 4000"/>
            </a:avLst>
          </a:prstGeom>
          <a:solidFill>
            <a:srgbClr val="151D2A"/>
          </a:solidFill>
          <a:ln w="12700">
            <a:solidFill>
              <a:srgbClr val="2631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 lIns="137160"/>
          <a:lstStyle/>
          <a:p>
            <a:pPr algn="l"/>
            <a:r>
              <a:rPr sz="1600" b="1">
                <a:solidFill>
                  <a:srgbClr val="D8E0EC"/>
                </a:solidFill>
                <a:latin typeface="Segoe UI"/>
              </a:rPr>
              <a:t>Link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8695A8"/>
                </a:solidFill>
                <a:latin typeface="Consolas"/>
              </a:rPr>
              <a:t>commit ↔ ticket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01184" y="306324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5B8CFF"/>
                </a:solidFill>
                <a:latin typeface="Segoe UI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21224" y="2743200"/>
            <a:ext cx="1874519" cy="1051560"/>
          </a:xfrm>
          <a:prstGeom prst="roundRect">
            <a:avLst>
              <a:gd name="adj" fmla="val 4000"/>
            </a:avLst>
          </a:prstGeom>
          <a:solidFill>
            <a:srgbClr val="151D2A"/>
          </a:solidFill>
          <a:ln w="12700">
            <a:solidFill>
              <a:srgbClr val="2631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 lIns="137160"/>
          <a:lstStyle/>
          <a:p>
            <a:pPr algn="l"/>
            <a:r>
              <a:rPr sz="1600" b="1">
                <a:solidFill>
                  <a:srgbClr val="D8E0EC"/>
                </a:solidFill>
                <a:latin typeface="Segoe UI"/>
              </a:rPr>
              <a:t>Act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8695A8"/>
                </a:solidFill>
                <a:latin typeface="Consolas"/>
              </a:rPr>
              <a:t>move + comment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77456" y="306324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5B8CFF"/>
                </a:solidFill>
                <a:latin typeface="Segoe U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97496" y="2743200"/>
            <a:ext cx="1874519" cy="1051560"/>
          </a:xfrm>
          <a:prstGeom prst="roundRect">
            <a:avLst>
              <a:gd name="adj" fmla="val 4000"/>
            </a:avLst>
          </a:prstGeom>
          <a:solidFill>
            <a:srgbClr val="151D2A"/>
          </a:solidFill>
          <a:ln w="12700">
            <a:solidFill>
              <a:srgbClr val="2631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 lIns="137160"/>
          <a:lstStyle/>
          <a:p>
            <a:pPr algn="l"/>
            <a:r>
              <a:rPr sz="1600" b="1">
                <a:solidFill>
                  <a:srgbClr val="D8E0EC"/>
                </a:solidFill>
                <a:latin typeface="Segoe UI"/>
              </a:rPr>
              <a:t>Write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8695A8"/>
                </a:solidFill>
                <a:latin typeface="Consolas"/>
              </a:rPr>
              <a:t>AI standup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53728" y="306324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5B8CFF"/>
                </a:solidFill>
                <a:latin typeface="Segoe U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573768" y="2743200"/>
            <a:ext cx="1874519" cy="1051560"/>
          </a:xfrm>
          <a:prstGeom prst="roundRect">
            <a:avLst>
              <a:gd name="adj" fmla="val 4000"/>
            </a:avLst>
          </a:prstGeom>
          <a:solidFill>
            <a:srgbClr val="151D2A"/>
          </a:solidFill>
          <a:ln w="12700">
            <a:solidFill>
              <a:srgbClr val="2631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 lIns="137160"/>
          <a:lstStyle/>
          <a:p>
            <a:pPr algn="l"/>
            <a:r>
              <a:rPr sz="1600" b="1">
                <a:solidFill>
                  <a:srgbClr val="D8E0EC"/>
                </a:solidFill>
                <a:latin typeface="Segoe UI"/>
              </a:rPr>
              <a:t>Post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8695A8"/>
                </a:solidFill>
                <a:latin typeface="Consolas"/>
              </a:rPr>
              <a:t>to Slack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206240"/>
            <a:ext cx="10424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695A8"/>
                </a:solidFill>
                <a:latin typeface="Segoe UI"/>
              </a:rPr>
              <a:t>Every step is a real change in the tools you already use. Developers tag a commit with the ticket key (</a:t>
            </a:r>
            <a:r>
              <a:rPr sz="1600" b="1">
                <a:solidFill>
                  <a:srgbClr val="5B8CFF"/>
                </a:solidFill>
                <a:latin typeface="Consolas"/>
              </a:rPr>
              <a:t>SCRUM-8</a:t>
            </a:r>
            <a:r>
              <a:rPr sz="1600" b="0">
                <a:solidFill>
                  <a:srgbClr val="8695A8"/>
                </a:solidFill>
                <a:latin typeface="Segoe UI"/>
              </a:rPr>
              <a:t>); the agent does the rest — automatically across every Jira project, so new boards just show up.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B8CFF"/>
                </a:solidFill>
                <a:latin typeface="Consolas"/>
              </a:rPr>
              <a:t>IT ACTS — NOT REPORTS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960120"/>
            <a:ext cx="104241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Segoe UI Semibold"/>
              </a:rPr>
              <a:t>A PR merges. The ticket moves itself.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2331720"/>
            <a:ext cx="7680960" cy="2651760"/>
          </a:xfrm>
          <a:prstGeom prst="roundRect">
            <a:avLst>
              <a:gd name="adj" fmla="val 4000"/>
            </a:avLst>
          </a:prstGeom>
          <a:solidFill>
            <a:srgbClr val="151D2A"/>
          </a:solidFill>
          <a:ln w="12700">
            <a:solidFill>
              <a:srgbClr val="2631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92608" tIns="237744"/>
          <a:lstStyle/>
          <a:p>
            <a:pPr algn="l"/>
            <a:r>
              <a:rPr sz="1500" b="1">
                <a:solidFill>
                  <a:srgbClr val="5B8CFF"/>
                </a:solidFill>
                <a:latin typeface="Consolas"/>
              </a:rPr>
              <a:t>SCRUM-8   </a:t>
            </a:r>
            <a:r>
              <a:rPr sz="1600" b="1">
                <a:solidFill>
                  <a:srgbClr val="D8E0EC"/>
                </a:solidFill>
                <a:latin typeface="Segoe UI"/>
              </a:rPr>
              <a:t>Read Jira — fetch sprint tickets      </a:t>
            </a:r>
            <a:r>
              <a:rPr sz="1200" b="1">
                <a:solidFill>
                  <a:srgbClr val="34D399"/>
                </a:solidFill>
                <a:latin typeface="Consolas"/>
              </a:rPr>
              <a:t>● Done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5F6D80"/>
                </a:solidFill>
                <a:latin typeface="Consolas"/>
              </a:rPr>
              <a:t>assignee: Rohith Reddy</a:t>
            </a:r>
          </a:p>
          <a:p>
            <a:pPr algn="l">
              <a:spcBef>
                <a:spcPts val="1400"/>
              </a:spcBef>
            </a:pPr>
            <a:r>
              <a:rPr sz="1300" b="1">
                <a:solidFill>
                  <a:srgbClr val="D8E0EC"/>
                </a:solidFill>
                <a:latin typeface="Segoe UI"/>
              </a:rPr>
              <a:t>Sprint Copilot · just now</a:t>
            </a:r>
          </a:p>
          <a:p>
            <a:pPr algn="l">
              <a:spcBef>
                <a:spcPts val="400"/>
              </a:spcBef>
            </a:pPr>
            <a:r>
              <a:rPr sz="1350" b="0">
                <a:solidFill>
                  <a:srgbClr val="8695A8"/>
                </a:solidFill>
                <a:latin typeface="Segoe UI"/>
              </a:rPr>
              <a:t>✅ moved to Done.</a:t>
            </a:r>
          </a:p>
          <a:p>
            <a:pPr algn="l">
              <a:spcBef>
                <a:spcPts val="200"/>
              </a:spcBef>
            </a:pPr>
            <a:r>
              <a:rPr sz="1350" b="0">
                <a:solidFill>
                  <a:srgbClr val="8695A8"/>
                </a:solidFill>
                <a:latin typeface="Segoe UI"/>
              </a:rPr>
              <a:t>•  PR #4: SCRUM-8 read jira — fetch sprint tickets</a:t>
            </a:r>
          </a:p>
          <a:p>
            <a:pPr algn="l">
              <a:spcBef>
                <a:spcPts val="200"/>
              </a:spcBef>
            </a:pPr>
            <a:r>
              <a:rPr sz="1350" b="0">
                <a:solidFill>
                  <a:srgbClr val="8695A8"/>
                </a:solidFill>
                <a:latin typeface="Segoe UI"/>
              </a:rPr>
              <a:t>•  commit </a:t>
            </a:r>
            <a:r>
              <a:rPr sz="1250" b="0">
                <a:solidFill>
                  <a:srgbClr val="5B8CFF"/>
                </a:solidFill>
                <a:latin typeface="Consolas"/>
              </a:rPr>
              <a:t>03ca272f  →  github.com/penninti/sprint-copilot/commit/03ca272f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212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695A8"/>
                </a:solidFill>
                <a:latin typeface="Segoe UI"/>
              </a:rPr>
              <a:t>No one opened Jira. No one dragged a card. The merge triggered it, and it left the commit link as evidence.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B8CFF"/>
                </a:solidFill>
                <a:latin typeface="Consolas"/>
              </a:rPr>
              <a:t>HONEST STANDUPS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960120"/>
            <a:ext cx="104241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Segoe UI Semibold"/>
              </a:rPr>
              <a:t>It writes each person's standup — blockers first.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2286000"/>
            <a:ext cx="7040880" cy="3246120"/>
          </a:xfrm>
          <a:prstGeom prst="roundRect">
            <a:avLst>
              <a:gd name="adj" fmla="val 4000"/>
            </a:avLst>
          </a:prstGeom>
          <a:solidFill>
            <a:srgbClr val="121622"/>
          </a:solidFill>
          <a:ln w="12700">
            <a:solidFill>
              <a:srgbClr val="2631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92608" tIns="219456"/>
          <a:lstStyle/>
          <a:p>
            <a:pPr algn="l"/>
            <a:r>
              <a:rPr sz="1500" b="1">
                <a:solidFill>
                  <a:srgbClr val="D8E0EC"/>
                </a:solidFill>
                <a:latin typeface="Segoe UI"/>
              </a:rPr>
              <a:t>Rohith Reddy</a:t>
            </a:r>
          </a:p>
          <a:p>
            <a:pPr algn="l">
              <a:spcBef>
                <a:spcPts val="300"/>
              </a:spcBef>
            </a:pPr>
            <a:r>
              <a:rPr sz="1350" b="0">
                <a:solidFill>
                  <a:srgbClr val="8695A8"/>
                </a:solidFill>
                <a:latin typeface="Segoe UI"/>
              </a:rPr>
              <a:t>•  Built auto-move + Jira comment and the all-branches GitHub reader</a:t>
            </a:r>
          </a:p>
          <a:p>
            <a:pPr algn="l">
              <a:spcBef>
                <a:spcPts val="300"/>
              </a:spcBef>
            </a:pPr>
            <a:r>
              <a:rPr sz="1350" b="0">
                <a:solidFill>
                  <a:srgbClr val="8695A8"/>
                </a:solidFill>
                <a:latin typeface="Segoe UI"/>
              </a:rPr>
              <a:t>•  Added the manual link &amp; status override to the dashboard</a:t>
            </a:r>
          </a:p>
          <a:p>
            <a:pPr algn="l">
              <a:spcBef>
                <a:spcPts val="300"/>
              </a:spcBef>
            </a:pPr>
            <a:r>
              <a:rPr sz="1350" b="0">
                <a:solidFill>
                  <a:srgbClr val="8695A8"/>
                </a:solidFill>
                <a:latin typeface="Segoe UI"/>
              </a:rPr>
              <a:t>•  Tickets: SCRUM-8 [Done], SCRUM-9 [In Progress]</a:t>
            </a:r>
          </a:p>
          <a:p>
            <a:pPr algn="l">
              <a:spcBef>
                <a:spcPts val="300"/>
              </a:spcBef>
            </a:pPr>
            <a:r>
              <a:rPr sz="1350" b="0">
                <a:solidFill>
                  <a:srgbClr val="8695A8"/>
                </a:solidFill>
                <a:latin typeface="Segoe UI"/>
              </a:rPr>
              <a:t>•  Blockers: none</a:t>
            </a:r>
          </a:p>
          <a:p>
            <a:pPr algn="l">
              <a:spcBef>
                <a:spcPts val="1200"/>
              </a:spcBef>
            </a:pPr>
            <a:r>
              <a:rPr sz="1500" b="1">
                <a:solidFill>
                  <a:srgbClr val="D8E0EC"/>
                </a:solidFill>
                <a:latin typeface="Segoe UI"/>
              </a:rPr>
              <a:t>Shravani Joshi</a:t>
            </a:r>
          </a:p>
          <a:p>
            <a:pPr algn="l">
              <a:spcBef>
                <a:spcPts val="300"/>
              </a:spcBef>
            </a:pPr>
            <a:r>
              <a:rPr sz="1350" b="0">
                <a:solidFill>
                  <a:srgbClr val="5F6D80"/>
                </a:solidFill>
                <a:latin typeface="Segoe UI"/>
              </a:rPr>
              <a:t>No tracked activity today.</a:t>
            </a:r>
          </a:p>
          <a:p>
            <a:pPr algn="l">
              <a:spcBef>
                <a:spcPts val="1200"/>
              </a:spcBef>
            </a:pPr>
            <a:r>
              <a:rPr sz="1250" b="0">
                <a:solidFill>
                  <a:srgbClr val="5B8CFF"/>
                </a:solidFill>
                <a:latin typeface="Consolas"/>
              </a:rPr>
              <a:t>Team note: 0 open PRs · SCRUM-1 is at risk — commits but still To Do.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760720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695A8"/>
                </a:solidFill>
                <a:latin typeface="Segoe UI"/>
              </a:rPr>
              <a:t>It says </a:t>
            </a:r>
            <a:r>
              <a:rPr sz="1600" b="1">
                <a:solidFill>
                  <a:srgbClr val="F5A524"/>
                </a:solidFill>
                <a:latin typeface="Segoe UI"/>
              </a:rPr>
              <a:t>“nothing today”</a:t>
            </a:r>
            <a:r>
              <a:rPr sz="1600" b="0">
                <a:solidFill>
                  <a:srgbClr val="8695A8"/>
                </a:solidFill>
                <a:latin typeface="Segoe UI"/>
              </a:rPr>
              <a:t> instead of inventing work — an AI you can trust in front of your team.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B8CFF"/>
                </a:solidFill>
                <a:latin typeface="Consolas"/>
              </a:rPr>
              <a:t>TRUSTWORTHY BY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960120"/>
            <a:ext cx="104241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Segoe UI Semibold"/>
              </a:rPr>
              <a:t>Catches what's stuck. Lets a human step in.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2468880"/>
            <a:ext cx="5212080" cy="2651760"/>
          </a:xfrm>
          <a:prstGeom prst="roundRect">
            <a:avLst>
              <a:gd name="adj" fmla="val 4000"/>
            </a:avLst>
          </a:prstGeom>
          <a:solidFill>
            <a:srgbClr val="151D2A"/>
          </a:solidFill>
          <a:ln w="12700">
            <a:solidFill>
              <a:srgbClr val="2631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37744"/>
          <a:lstStyle/>
          <a:p>
            <a:pPr algn="l"/>
            <a:r>
              <a:rPr sz="1200" b="1">
                <a:solidFill>
                  <a:srgbClr val="F5A524"/>
                </a:solidFill>
                <a:latin typeface="Consolas"/>
              </a:rPr>
              <a:t>⚠  AT RISK</a:t>
            </a:r>
          </a:p>
          <a:p>
            <a:pPr algn="l">
              <a:spcBef>
                <a:spcPts val="1000"/>
              </a:spcBef>
            </a:pPr>
            <a:r>
              <a:rPr sz="1500" b="1">
                <a:solidFill>
                  <a:srgbClr val="D8E0EC"/>
                </a:solidFill>
                <a:latin typeface="Segoe UI"/>
              </a:rPr>
              <a:t>SCRUM-1 has commits but is still To Do — move it forward.</a:t>
            </a:r>
          </a:p>
          <a:p>
            <a:pPr algn="l">
              <a:spcBef>
                <a:spcPts val="1000"/>
              </a:spcBef>
            </a:pPr>
            <a:r>
              <a:rPr sz="1400" b="0">
                <a:solidFill>
                  <a:srgbClr val="8695A8"/>
                </a:solidFill>
                <a:latin typeface="Segoe UI"/>
              </a:rPr>
              <a:t>Flags tickets with code but no movement, and PRs left open too long.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55080" y="2468880"/>
            <a:ext cx="4983480" cy="2651760"/>
          </a:xfrm>
          <a:prstGeom prst="roundRect">
            <a:avLst>
              <a:gd name="adj" fmla="val 4000"/>
            </a:avLst>
          </a:prstGeom>
          <a:solidFill>
            <a:srgbClr val="151D2A"/>
          </a:solidFill>
          <a:ln w="12700">
            <a:solidFill>
              <a:srgbClr val="2631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37744"/>
          <a:lstStyle/>
          <a:p>
            <a:pPr algn="l"/>
            <a:r>
              <a:rPr sz="1200" b="1">
                <a:solidFill>
                  <a:srgbClr val="8695A8"/>
                </a:solidFill>
                <a:latin typeface="Consolas"/>
              </a:rPr>
              <a:t>HUMAN OVERRIDE</a:t>
            </a:r>
          </a:p>
          <a:p>
            <a:pPr algn="l">
              <a:spcBef>
                <a:spcPts val="1000"/>
              </a:spcBef>
            </a:pPr>
            <a:r>
              <a:rPr sz="1500" b="1">
                <a:solidFill>
                  <a:srgbClr val="D8E0EC"/>
                </a:solidFill>
                <a:latin typeface="Segoe UI"/>
              </a:rPr>
              <a:t>Agent missed a link? One click to link a commit or set a status — from the dashboard.</a:t>
            </a:r>
          </a:p>
          <a:p>
            <a:pPr algn="l">
              <a:spcBef>
                <a:spcPts val="1000"/>
              </a:spcBef>
            </a:pPr>
            <a:r>
              <a:rPr sz="1400" b="0">
                <a:solidFill>
                  <a:srgbClr val="8695A8"/>
                </a:solidFill>
                <a:latin typeface="Segoe UI"/>
              </a:rPr>
              <a:t>Automation proposes; a person can always correct 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B8CFF"/>
                </a:solidFill>
                <a:latin typeface="Consolas"/>
              </a:rPr>
              <a:t>UNDER THE HOOD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960120"/>
            <a:ext cx="104241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 Semibold"/>
              </a:rPr>
              <a:t>Small, sharp pieces.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194560"/>
            <a:ext cx="5120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68680" y="2194560"/>
            <a:ext cx="5212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5B8CFF"/>
                </a:solidFill>
                <a:latin typeface="Consolas"/>
              </a:rPr>
              <a:t>github.py   </a:t>
            </a:r>
            <a:r>
              <a:rPr sz="1350" b="0">
                <a:solidFill>
                  <a:srgbClr val="8695A8"/>
                </a:solidFill>
                <a:latin typeface="Segoe UI"/>
              </a:rPr>
              <a:t>reads commits &amp; PRs across all branches</a:t>
            </a:r>
          </a:p>
          <a:p>
            <a:pPr algn="l">
              <a:spcBef>
                <a:spcPts val="1200"/>
              </a:spcBef>
            </a:pPr>
            <a:r>
              <a:rPr sz="1400" b="1">
                <a:solidFill>
                  <a:srgbClr val="5B8CFF"/>
                </a:solidFill>
                <a:latin typeface="Consolas"/>
              </a:rPr>
              <a:t>jira.py   </a:t>
            </a:r>
            <a:r>
              <a:rPr sz="1350" b="0">
                <a:solidFill>
                  <a:srgbClr val="8695A8"/>
                </a:solidFill>
                <a:latin typeface="Segoe UI"/>
              </a:rPr>
              <a:t>reads all projects · moves · comments</a:t>
            </a:r>
          </a:p>
          <a:p>
            <a:pPr algn="l">
              <a:spcBef>
                <a:spcPts val="1200"/>
              </a:spcBef>
            </a:pPr>
            <a:r>
              <a:rPr sz="1400" b="1">
                <a:solidFill>
                  <a:srgbClr val="5B8CFF"/>
                </a:solidFill>
                <a:latin typeface="Consolas"/>
              </a:rPr>
              <a:t>match.py   </a:t>
            </a:r>
            <a:r>
              <a:rPr sz="1350" b="0">
                <a:solidFill>
                  <a:srgbClr val="8695A8"/>
                </a:solidFill>
                <a:latin typeface="Segoe UI"/>
              </a:rPr>
              <a:t>links commit ↔ ticket by key</a:t>
            </a:r>
          </a:p>
          <a:p>
            <a:pPr algn="l">
              <a:spcBef>
                <a:spcPts val="1200"/>
              </a:spcBef>
            </a:pPr>
            <a:r>
              <a:rPr sz="1400" b="1">
                <a:solidFill>
                  <a:srgbClr val="5B8CFF"/>
                </a:solidFill>
                <a:latin typeface="Consolas"/>
              </a:rPr>
              <a:t>stuck.py   </a:t>
            </a:r>
            <a:r>
              <a:rPr sz="1350" b="0">
                <a:solidFill>
                  <a:srgbClr val="8695A8"/>
                </a:solidFill>
                <a:latin typeface="Segoe UI"/>
              </a:rPr>
              <a:t>flags stalled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194560"/>
            <a:ext cx="5120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5B8CFF"/>
                </a:solidFill>
                <a:latin typeface="Consolas"/>
              </a:rPr>
              <a:t>standup.py   </a:t>
            </a:r>
            <a:r>
              <a:rPr sz="1350" b="0">
                <a:solidFill>
                  <a:srgbClr val="8695A8"/>
                </a:solidFill>
                <a:latin typeface="Segoe UI"/>
              </a:rPr>
              <a:t>writes the standup — Azure OpenAI</a:t>
            </a:r>
          </a:p>
          <a:p>
            <a:pPr algn="l">
              <a:spcBef>
                <a:spcPts val="1200"/>
              </a:spcBef>
            </a:pPr>
            <a:r>
              <a:rPr sz="1400" b="1">
                <a:solidFill>
                  <a:srgbClr val="5B8CFF"/>
                </a:solidFill>
                <a:latin typeface="Consolas"/>
              </a:rPr>
              <a:t>slack.py   </a:t>
            </a:r>
            <a:r>
              <a:rPr sz="1350" b="0">
                <a:solidFill>
                  <a:srgbClr val="8695A8"/>
                </a:solidFill>
                <a:latin typeface="Segoe UI"/>
              </a:rPr>
              <a:t>posts to the channel</a:t>
            </a:r>
          </a:p>
          <a:p>
            <a:pPr algn="l">
              <a:spcBef>
                <a:spcPts val="1200"/>
              </a:spcBef>
            </a:pPr>
            <a:r>
              <a:rPr sz="1400" b="1">
                <a:solidFill>
                  <a:srgbClr val="5B8CFF"/>
                </a:solidFill>
                <a:latin typeface="Consolas"/>
              </a:rPr>
              <a:t>web.py   </a:t>
            </a:r>
            <a:r>
              <a:rPr sz="1350" b="0">
                <a:solidFill>
                  <a:srgbClr val="8695A8"/>
                </a:solidFill>
                <a:latin typeface="Segoe UI"/>
              </a:rPr>
              <a:t>the live dashboard + overrides</a:t>
            </a:r>
          </a:p>
          <a:p>
            <a:pPr algn="l">
              <a:spcBef>
                <a:spcPts val="1200"/>
              </a:spcBef>
            </a:pPr>
            <a:r>
              <a:rPr sz="1400" b="1">
                <a:solidFill>
                  <a:srgbClr val="5B8CFF"/>
                </a:solidFill>
                <a:latin typeface="Consolas"/>
              </a:rPr>
              <a:t>run.py   </a:t>
            </a:r>
            <a:r>
              <a:rPr sz="1350" b="0">
                <a:solidFill>
                  <a:srgbClr val="8695A8"/>
                </a:solidFill>
                <a:latin typeface="Segoe UI"/>
              </a:rPr>
              <a:t>the whole flow, one command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5989320"/>
            <a:ext cx="1088136" cy="384048"/>
          </a:xfrm>
          <a:prstGeom prst="roundRect">
            <a:avLst>
              <a:gd name="adj" fmla="val 4000"/>
            </a:avLst>
          </a:prstGeom>
          <a:solidFill>
            <a:srgbClr val="151D2A"/>
          </a:solidFill>
          <a:ln w="12700">
            <a:solidFill>
              <a:srgbClr val="2631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27432" bIns="27432"/>
          <a:lstStyle/>
          <a:p>
            <a:pPr algn="l"/>
            <a:r>
              <a:rPr sz="1200" b="0">
                <a:solidFill>
                  <a:srgbClr val="D8E0EC"/>
                </a:solidFill>
                <a:latin typeface="Consolas"/>
              </a:rPr>
              <a:t>Python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03120" y="5989320"/>
            <a:ext cx="982980" cy="384048"/>
          </a:xfrm>
          <a:prstGeom prst="roundRect">
            <a:avLst>
              <a:gd name="adj" fmla="val 4000"/>
            </a:avLst>
          </a:prstGeom>
          <a:solidFill>
            <a:srgbClr val="151D2A"/>
          </a:solidFill>
          <a:ln w="12700">
            <a:solidFill>
              <a:srgbClr val="2631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27432" bIns="27432"/>
          <a:lstStyle/>
          <a:p>
            <a:pPr algn="l"/>
            <a:r>
              <a:rPr sz="1200" b="0">
                <a:solidFill>
                  <a:srgbClr val="D8E0EC"/>
                </a:solidFill>
                <a:latin typeface="Consolas"/>
              </a:rPr>
              <a:t>Flask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32404" y="5989320"/>
            <a:ext cx="3191256" cy="384048"/>
          </a:xfrm>
          <a:prstGeom prst="roundRect">
            <a:avLst>
              <a:gd name="adj" fmla="val 4000"/>
            </a:avLst>
          </a:prstGeom>
          <a:solidFill>
            <a:srgbClr val="151D2A"/>
          </a:solidFill>
          <a:ln w="12700">
            <a:solidFill>
              <a:srgbClr val="2631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27432" bIns="27432"/>
          <a:lstStyle/>
          <a:p>
            <a:pPr algn="l"/>
            <a:r>
              <a:rPr sz="1200" b="0">
                <a:solidFill>
                  <a:srgbClr val="D8E0EC"/>
                </a:solidFill>
                <a:latin typeface="Consolas"/>
              </a:rPr>
              <a:t>GitHub / Jira / Slack REST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69964" y="5989320"/>
            <a:ext cx="1719072" cy="384048"/>
          </a:xfrm>
          <a:prstGeom prst="roundRect">
            <a:avLst>
              <a:gd name="adj" fmla="val 4000"/>
            </a:avLst>
          </a:prstGeom>
          <a:solidFill>
            <a:srgbClr val="151D2A"/>
          </a:solidFill>
          <a:ln w="12700">
            <a:solidFill>
              <a:srgbClr val="2631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27432" bIns="27432"/>
          <a:lstStyle/>
          <a:p>
            <a:pPr algn="l"/>
            <a:r>
              <a:rPr sz="1200" b="0">
                <a:solidFill>
                  <a:srgbClr val="D8E0EC"/>
                </a:solidFill>
                <a:latin typeface="Consolas"/>
              </a:rPr>
              <a:t>Azure OpenAI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B8CFF"/>
                </a:solidFill>
                <a:latin typeface="Consolas"/>
              </a:rPr>
              <a:t>WHY IT'S DIFFERENT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960120"/>
            <a:ext cx="104241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 Semibold"/>
              </a:rPr>
              <a:t>Not another summary bot.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468880"/>
            <a:ext cx="5120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B8CFF"/>
                </a:solidFill>
                <a:latin typeface="Consolas"/>
              </a:rPr>
              <a:t>01   </a:t>
            </a:r>
            <a:r>
              <a:rPr sz="1800" b="1">
                <a:solidFill>
                  <a:srgbClr val="FFFFFF"/>
                </a:solidFill>
                <a:latin typeface="Segoe UI Semibold"/>
              </a:rPr>
              <a:t>It acts, not reports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rgbClr val="8695A8"/>
                </a:solidFill>
                <a:latin typeface="Segoe UI"/>
              </a:rPr>
              <a:t>Changes Jira and Slack — most “AI” demos only summarize.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5080" y="2468880"/>
            <a:ext cx="5120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B8CFF"/>
                </a:solidFill>
                <a:latin typeface="Consolas"/>
              </a:rPr>
              <a:t>02   </a:t>
            </a:r>
            <a:r>
              <a:rPr sz="1800" b="1">
                <a:solidFill>
                  <a:srgbClr val="FFFFFF"/>
                </a:solidFill>
                <a:latin typeface="Segoe UI Semibold"/>
              </a:rPr>
              <a:t>Honest AI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rgbClr val="8695A8"/>
                </a:solidFill>
                <a:latin typeface="Segoe UI"/>
              </a:rPr>
              <a:t>Says when nothing happened; never invents progress.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4480560"/>
            <a:ext cx="5120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B8CFF"/>
                </a:solidFill>
                <a:latin typeface="Consolas"/>
              </a:rPr>
              <a:t>03   </a:t>
            </a:r>
            <a:r>
              <a:rPr sz="1800" b="1">
                <a:solidFill>
                  <a:srgbClr val="FFFFFF"/>
                </a:solidFill>
                <a:latin typeface="Segoe UI Semibold"/>
              </a:rPr>
              <a:t>Human in the loop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rgbClr val="8695A8"/>
                </a:solidFill>
                <a:latin typeface="Segoe UI"/>
              </a:rPr>
              <a:t>One-click override on links and status — built for failure.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4480560"/>
            <a:ext cx="5120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B8CFF"/>
                </a:solidFill>
                <a:latin typeface="Consolas"/>
              </a:rPr>
              <a:t>04   </a:t>
            </a:r>
            <a:r>
              <a:rPr sz="1800" b="1">
                <a:solidFill>
                  <a:srgbClr val="FFFFFF"/>
                </a:solidFill>
                <a:latin typeface="Segoe UI Semibold"/>
              </a:rPr>
              <a:t>Real &amp; live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rgbClr val="8695A8"/>
                </a:solidFill>
                <a:latin typeface="Segoe UI"/>
              </a:rPr>
              <a:t>Running on our actual repo &amp; board. Merge a PR and watch it move.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B8CFF"/>
                </a:solidFill>
                <a:latin typeface="Consolas"/>
              </a:rPr>
              <a:t>WHAT'S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960120"/>
            <a:ext cx="104241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 Semibold"/>
              </a:rPr>
              <a:t>The scrum master's busywork — gone.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2468880"/>
            <a:ext cx="3506724" cy="384048"/>
          </a:xfrm>
          <a:prstGeom prst="roundRect">
            <a:avLst>
              <a:gd name="adj" fmla="val 4000"/>
            </a:avLst>
          </a:prstGeom>
          <a:solidFill>
            <a:srgbClr val="151D2A"/>
          </a:solidFill>
          <a:ln w="12700">
            <a:solidFill>
              <a:srgbClr val="2631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27432" bIns="27432"/>
          <a:lstStyle/>
          <a:p>
            <a:pPr algn="l"/>
            <a:r>
              <a:rPr sz="1200" b="0">
                <a:solidFill>
                  <a:srgbClr val="D8E0EC"/>
                </a:solidFill>
                <a:latin typeface="Consolas"/>
              </a:rPr>
              <a:t>Update the Notion sprint page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21708" y="2468880"/>
            <a:ext cx="2665476" cy="384048"/>
          </a:xfrm>
          <a:prstGeom prst="roundRect">
            <a:avLst>
              <a:gd name="adj" fmla="val 4000"/>
            </a:avLst>
          </a:prstGeom>
          <a:solidFill>
            <a:srgbClr val="151D2A"/>
          </a:solidFill>
          <a:ln w="12700">
            <a:solidFill>
              <a:srgbClr val="2631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27432" bIns="27432"/>
          <a:lstStyle/>
          <a:p>
            <a:pPr algn="l"/>
            <a:r>
              <a:rPr sz="1200" b="0">
                <a:solidFill>
                  <a:srgbClr val="D8E0EC"/>
                </a:solidFill>
                <a:latin typeface="Consolas"/>
              </a:rPr>
              <a:t>Cancel empty standups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33488" y="2468880"/>
            <a:ext cx="3927348" cy="384048"/>
          </a:xfrm>
          <a:prstGeom prst="roundRect">
            <a:avLst>
              <a:gd name="adj" fmla="val 4000"/>
            </a:avLst>
          </a:prstGeom>
          <a:solidFill>
            <a:srgbClr val="151D2A"/>
          </a:solidFill>
          <a:ln w="12700">
            <a:solidFill>
              <a:srgbClr val="2631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27432" bIns="27432"/>
          <a:lstStyle/>
          <a:p>
            <a:pPr algn="l"/>
            <a:r>
              <a:rPr sz="1200" b="0">
                <a:solidFill>
                  <a:srgbClr val="D8E0EC"/>
                </a:solidFill>
                <a:latin typeface="Consolas"/>
              </a:rPr>
              <a:t>Open follow-up tickets from TODOs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6576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D8E0EC"/>
                </a:solidFill>
                <a:latin typeface="Segoe UI Semibold"/>
              </a:rPr>
              <a:t>Live demo  </a:t>
            </a:r>
            <a:r>
              <a:rPr sz="3000" b="1">
                <a:solidFill>
                  <a:srgbClr val="5B8CFF"/>
                </a:solidFill>
                <a:latin typeface="Segoe UI Semibold"/>
              </a:rP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84632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8E0EC"/>
                </a:solidFill>
                <a:latin typeface="Segoe UI"/>
              </a:rPr>
              <a:t>Rohith Penninti</a:t>
            </a:r>
            <a:r>
              <a:rPr sz="1400" b="1">
                <a:solidFill>
                  <a:srgbClr val="D8E0EC"/>
                </a:solidFill>
                <a:latin typeface="Segoe UI"/>
              </a:rPr>
              <a:t>      Shravani Joshi</a:t>
            </a:r>
            <a:r>
              <a:rPr sz="1300" b="0">
                <a:solidFill>
                  <a:srgbClr val="5F6D80"/>
                </a:solidFill>
                <a:latin typeface="Consolas"/>
              </a:rPr>
              <a:t>      Sprint Copilot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